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7991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914400"/>
            <a:ext cx="73152" cy="73152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" name="Shape 1"/>
          <p:cNvSpPr/>
          <p:nvPr/>
        </p:nvSpPr>
        <p:spPr>
          <a:xfrm>
            <a:off x="10378440" y="914400"/>
            <a:ext cx="73152" cy="73152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914400"/>
            <a:ext cx="73152" cy="73152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1600200"/>
            <a:ext cx="73152" cy="73152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6" name="Shape 4"/>
          <p:cNvSpPr/>
          <p:nvPr/>
        </p:nvSpPr>
        <p:spPr>
          <a:xfrm>
            <a:off x="10378440" y="1600200"/>
            <a:ext cx="73152" cy="73152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0" y="1600200"/>
            <a:ext cx="73152" cy="73152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 •  COURSE CODE 1002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DevSecOps and</a:t>
            </a:r>
            <a:endParaRPr lang="en-US" sz="4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CI/CD Pipelines</a:t>
            </a:r>
            <a:endParaRPr lang="en-US" sz="4600" dirty="0"/>
          </a:p>
        </p:txBody>
      </p:sp>
      <p:sp>
        <p:nvSpPr>
          <p:cNvPr id="10" name="Shape 8"/>
          <p:cNvSpPr/>
          <p:nvPr/>
        </p:nvSpPr>
        <p:spPr>
          <a:xfrm>
            <a:off x="822960" y="3977640"/>
            <a:ext cx="2377440" cy="411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5074920"/>
            <a:ext cx="5669280" cy="1417320"/>
          </a:xfrm>
          <a:prstGeom prst="roundRect">
            <a:avLst>
              <a:gd name="adj" fmla="val 7742"/>
            </a:avLst>
          </a:prstGeom>
          <a:solidFill>
            <a:srgbClr val="111C31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52303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VIVETHA 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563270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Number: 192424170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59436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Software Engineering  |  Course Code: 1002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966960" y="5212080"/>
            <a:ext cx="1143000" cy="1143000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17" name="Image 0" descr="/home/claude/devsecops_ppt/icons/shield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4135" y="5469255"/>
            <a:ext cx="628650" cy="6286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7772400" y="2697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772400" y="3429000"/>
            <a:ext cx="3520440" cy="0"/>
          </a:xfrm>
          <a:prstGeom prst="line">
            <a:avLst/>
          </a:prstGeom>
          <a:noFill/>
          <a:ln w="12700">
            <a:solidFill>
              <a:srgbClr val="223252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and Intelligent CI/CD Pipelines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E72632-8492-84AC-5592-499372BFC96A}"/>
              </a:ext>
            </a:extLst>
          </p:cNvPr>
          <p:cNvSpPr txBox="1"/>
          <p:nvPr/>
        </p:nvSpPr>
        <p:spPr>
          <a:xfrm>
            <a:off x="899160" y="1579778"/>
            <a:ext cx="9395926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bg1"/>
                </a:solidFill>
              </a:rPr>
              <a:t>DevSecOps</a:t>
            </a:r>
            <a:r>
              <a:rPr lang="en-IN" dirty="0">
                <a:solidFill>
                  <a:schemeClr val="bg1"/>
                </a:solidFill>
              </a:rPr>
              <a:t> integrates </a:t>
            </a:r>
            <a:r>
              <a:rPr lang="en-IN" b="1" dirty="0">
                <a:solidFill>
                  <a:schemeClr val="bg1"/>
                </a:solidFill>
              </a:rPr>
              <a:t>development, security, and operations</a:t>
            </a:r>
            <a:r>
              <a:rPr lang="en-IN" dirty="0">
                <a:solidFill>
                  <a:schemeClr val="bg1"/>
                </a:solidFill>
              </a:rPr>
              <a:t> into a single software delivery process.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CI/CD pipelines automate the </a:t>
            </a:r>
            <a:r>
              <a:rPr lang="en-IN" b="1" dirty="0">
                <a:solidFill>
                  <a:schemeClr val="bg1"/>
                </a:solidFill>
              </a:rPr>
              <a:t>building, testing, security checking, and deployment</a:t>
            </a:r>
            <a:r>
              <a:rPr lang="en-IN" dirty="0">
                <a:solidFill>
                  <a:schemeClr val="bg1"/>
                </a:solidFill>
              </a:rPr>
              <a:t> of applications.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Intelligent CI/CD uses </a:t>
            </a:r>
            <a:r>
              <a:rPr lang="en-IN" b="1" dirty="0">
                <a:solidFill>
                  <a:schemeClr val="bg1"/>
                </a:solidFill>
              </a:rPr>
              <a:t>AI and automation</a:t>
            </a:r>
            <a:r>
              <a:rPr lang="en-IN" dirty="0">
                <a:solidFill>
                  <a:schemeClr val="bg1"/>
                </a:solidFill>
              </a:rPr>
              <a:t> to identify problems early and improve decision-making.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Security is included at </a:t>
            </a:r>
            <a:r>
              <a:rPr lang="en-IN" b="1" dirty="0">
                <a:solidFill>
                  <a:schemeClr val="bg1"/>
                </a:solidFill>
              </a:rPr>
              <a:t>every stage of development</a:t>
            </a:r>
            <a:r>
              <a:rPr lang="en-IN" dirty="0">
                <a:solidFill>
                  <a:schemeClr val="bg1"/>
                </a:solidFill>
              </a:rPr>
              <a:t>, rather than being added after deployment.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Automated tools such as </a:t>
            </a:r>
            <a:r>
              <a:rPr lang="en-IN" b="1" dirty="0">
                <a:solidFill>
                  <a:schemeClr val="bg1"/>
                </a:solidFill>
              </a:rPr>
              <a:t>SonarQube, security scanners, Docker, and Kubernetes</a:t>
            </a:r>
            <a:r>
              <a:rPr lang="en-IN" dirty="0">
                <a:solidFill>
                  <a:schemeClr val="bg1"/>
                </a:solidFill>
              </a:rPr>
              <a:t> improve code quality and deployment reliability.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Continuous monitoring helps detect </a:t>
            </a:r>
            <a:r>
              <a:rPr lang="en-IN" b="1" dirty="0">
                <a:solidFill>
                  <a:schemeClr val="bg1"/>
                </a:solidFill>
              </a:rPr>
              <a:t>failures, vulnerabilities, and performance issues</a:t>
            </a:r>
            <a:r>
              <a:rPr lang="en-IN" dirty="0">
                <a:solidFill>
                  <a:schemeClr val="bg1"/>
                </a:solidFill>
              </a:rPr>
              <a:t> quickly.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The main goal is to achieve </a:t>
            </a:r>
            <a:r>
              <a:rPr lang="en-IN" b="1" dirty="0">
                <a:solidFill>
                  <a:schemeClr val="bg1"/>
                </a:solidFill>
              </a:rPr>
              <a:t>faster, safer, reliable, and scalable software delivery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and Motivation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111C31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594360" cy="594360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6" name="Image 0" descr="/home/claude/devsecops_ppt/icons/bug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977390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1051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Software Supply-Chain Attacks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like SolarWinds show attackers exploit gaps between fast delivery and slow, manual security review.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55448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111C31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828800"/>
            <a:ext cx="594360" cy="594360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11" name="Image 1" descr="/home/claude/devsecops_ppt/icons/tachometer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9390" y="197739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1051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vs. Security Trade-off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00800" y="251460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security testing at the end of a release cycle slows delivery and gets skipped under deadline pressure.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111C31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297680"/>
            <a:ext cx="594360" cy="594360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16" name="Image 2" descr="/home/claude/devsecops_ppt/icons/balance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444627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7939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Regulatory Pressure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" y="498348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such as GDPR, HIPAA, and PCI-DSS demand continuous, auditable security evidence, not one-time checks.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26480" y="402336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111C31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0" y="4297680"/>
            <a:ext cx="594360" cy="594360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21" name="Image 3" descr="/home/claude/devsecops_ppt/icons/network_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9390" y="444627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27939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Infrastructure Complexity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00800" y="498348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Microservices, containers, and multi-cloud deployments expand the attack surface faster than manual review can cover.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and Intelligent CI/CD Pipelines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Principle /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AI-driven checks are embedded at every stage of the pipeline, forming a continuous feedback loop rather than a one-time gate.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34440" y="3273552"/>
            <a:ext cx="9692640" cy="0"/>
          </a:xfrm>
          <a:prstGeom prst="line">
            <a:avLst/>
          </a:prstGeom>
          <a:noFill/>
          <a:ln w="25400">
            <a:solidFill>
              <a:srgbClr val="2232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544" y="2423160"/>
            <a:ext cx="621792" cy="621792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7" name="Image 0" descr="/home/claude/devsecops_ppt/icons/clipboard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57860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28600" y="35021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modelling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38984" y="2423160"/>
            <a:ext cx="621792" cy="621792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11" name="Image 1" descr="/home/claude/devsecops_ppt/icons/laptopCod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4432" y="257860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3548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844040" y="35021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scanning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154424" y="2423160"/>
            <a:ext cx="621792" cy="621792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15" name="Image 2" descr="/home/claude/devsecops_ppt/icons/hammer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9872" y="2578608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5092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459480" y="35021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&amp; dependency check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769864" y="2423160"/>
            <a:ext cx="621792" cy="621792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19" name="Image 3" descr="/home/claude/devsecops_ppt/icons/vial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5312" y="2578608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6636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074920" y="35021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&amp; security tests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7385304" y="2423160"/>
            <a:ext cx="621792" cy="621792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23" name="Image 4" descr="/home/claude/devsecops_ppt/icons/lock_amb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0752" y="2578608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78180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Gate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6690360" y="35021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 approval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9000744" y="2423160"/>
            <a:ext cx="621792" cy="621792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27" name="Image 5" descr="/home/claude/devsecops_ppt/icons/cloudUpload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6192" y="2578608"/>
            <a:ext cx="310896" cy="31089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39724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/ Deploy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8305800" y="35021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&amp; IaC scan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10616184" y="2423160"/>
            <a:ext cx="621792" cy="621792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31" name="Image 6" descr="/home/claude/devsecops_ppt/icons/chartLine_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71632" y="2578608"/>
            <a:ext cx="310896" cy="31089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001268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9921240" y="35021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anomaly detection</a:t>
            </a:r>
            <a:endParaRPr lang="en-US" sz="950" dirty="0"/>
          </a:p>
        </p:txBody>
      </p:sp>
      <p:sp>
        <p:nvSpPr>
          <p:cNvPr id="34" name="Shape 25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111C31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822960" y="5120640"/>
            <a:ext cx="548640" cy="548640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36" name="Image 7" descr="/home/claude/devsecops_ppt/icons/sync_cya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6404" y="5244084"/>
            <a:ext cx="301752" cy="30175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1554480" y="5074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Feedback Loop</a:t>
            </a:r>
            <a:endParaRPr lang="en-US" sz="1350" dirty="0"/>
          </a:p>
        </p:txBody>
      </p:sp>
      <p:sp>
        <p:nvSpPr>
          <p:cNvPr id="38" name="Text 28"/>
          <p:cNvSpPr/>
          <p:nvPr/>
        </p:nvSpPr>
        <p:spPr>
          <a:xfrm>
            <a:off x="1554480" y="53949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analyse monitoring data and pipeline history to predict failures, auto-tune test priorities, and feed insights back into the Plan stage — closing the loop.</a:t>
            </a:r>
            <a:endParaRPr lang="en-US" sz="1150" dirty="0"/>
          </a:p>
        </p:txBody>
      </p:sp>
      <p:sp>
        <p:nvSpPr>
          <p:cNvPr id="39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and Intelligent CI/CD Pipelines</a:t>
            </a:r>
            <a:endParaRPr lang="en-US" sz="900" dirty="0"/>
          </a:p>
        </p:txBody>
      </p:sp>
      <p:sp>
        <p:nvSpPr>
          <p:cNvPr id="40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Components and Technologies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11C31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56232"/>
            <a:ext cx="566928" cy="566928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6" name="Image 0" descr="/home/claude/devsecops_ppt/icons/search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1997964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51460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&amp; Dynamic Analysis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" y="297180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SAST/DAST tools — SonarQube, Checkmarx, OWASP ZAP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11C31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99432" y="1856232"/>
            <a:ext cx="566928" cy="566928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11" name="Image 1" descr="/home/claude/devsecops_ppt/icons/box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164" y="1997964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251460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Composition Analysis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99432" y="297180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&amp; open-source risk — Snyk, WhiteSource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11C31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94192" y="1856232"/>
            <a:ext cx="566928" cy="566928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16" name="Image 2" descr="/home/claude/devsecops_ppt/icons/dockerLike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5924" y="1997964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251460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&amp; Image Scanning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94192" y="297180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scanning — Trivy, Aqua Security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11C31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4096512"/>
            <a:ext cx="566928" cy="566928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21" name="Image 3" descr="/home/claude/devsecops_ppt/icons/key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" y="4238244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75488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Identity Management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04672" y="521208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secret storage — HashiCorp Vault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384048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11C31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99432" y="4096512"/>
            <a:ext cx="566928" cy="566928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26" name="Image 4" descr="/home/claude/devsecops_ppt/icons/tools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1164" y="4238244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9432" y="475488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Orchestration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99432" y="521208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automation — Jenkins, GitLab CI, GitHub Actions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84048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11C31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94192" y="4096512"/>
            <a:ext cx="566928" cy="566928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31" name="Image 5" descr="/home/claude/devsecops_ppt/icons/brain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5924" y="4238244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94192" y="475488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Intelligence Layer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94192" y="521208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&amp; anomaly detection models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and Intelligent CI/CD Pipelines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/ Real-World Use Cases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111C31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2148840"/>
            <a:ext cx="640080" cy="640080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6" name="Image 0" descr="/home/claude/devsecops_ppt/icons/cloud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180" y="23088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301752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Applications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13232" y="3703320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multi-cloud deployment with continuous security scanning at every push.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816352" y="182880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47872" y="2148840"/>
            <a:ext cx="640080" cy="640080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11" name="Image 1" descr="/home/claude/devsecops_ppt/icons/university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892" y="23088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80944" y="301752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Finance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980944" y="3703320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compliance evidence (PCI-DSS) generated on every pipeline run.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84064" y="182880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111C31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815584" y="2148840"/>
            <a:ext cx="640080" cy="640080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16" name="Image 2" descr="/home/claude/devsecops_ppt/icons/hospital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5604" y="23088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48656" y="301752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Systems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248656" y="3703320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patient data pipelines with continuous HIPAA-aligned checks.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351776" y="182880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83296" y="2148840"/>
            <a:ext cx="640080" cy="640080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21" name="Image 3" descr="/home/claude/devsecops_ppt/icons/cart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3316" y="23088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16368" y="301752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516368" y="3703320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releases with zero-downtime, security-gated deployments.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619488" y="182880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111C31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351008" y="2148840"/>
            <a:ext cx="640080" cy="640080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26" name="Image 4" descr="/home/claude/devsecops_ppt/icons/microchip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1028" y="230886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84080" y="301752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&amp; Firmware Updates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784080" y="3703320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automated over-the-air update pipelines for connected devices.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and Intelligent CI/CD Pipelines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and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2800"/>
            </a:avLst>
          </a:prstGeom>
          <a:solidFill>
            <a:srgbClr val="111C31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6" name="Image 0" descr="/home/claude/devsecops_ppt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18836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105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Faster, more frequent release cycles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30449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Vulnerabilities caught early — lower fix cost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35753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Stronger cross-team collaboration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410565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Automated, always-current compliance evidence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46360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Reduced human error in repetitive checks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17920" y="1554480"/>
            <a:ext cx="5394960" cy="4572000"/>
          </a:xfrm>
          <a:prstGeom prst="roundRect">
            <a:avLst>
              <a:gd name="adj" fmla="val 2800"/>
            </a:avLst>
          </a:prstGeom>
          <a:solidFill>
            <a:srgbClr val="111C31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92240" y="1783080"/>
            <a:ext cx="502920" cy="502920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15" name="Image 1" descr="/home/claude/devsecops_ppt/icons/times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188366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32320" y="18105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537960" y="2514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Tool sprawl adds integration complexity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537960" y="30449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models can produce false positives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537960" y="35753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Cultural resistance to shared ownership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537960" y="410565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Higher upfront setup and tooling cost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537960" y="46360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Requires new, cross-disciplinary skill sets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and Intelligent CI/CD Pipelines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Developments and Trends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11C31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56232"/>
            <a:ext cx="566928" cy="566928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6" name="Image 0" descr="/home/claude/devsecops_ppt/icons/magic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1997964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51460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Code Review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4672" y="297180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suggest vulnerability fixes and generate secure code patches inline.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11C31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99432" y="1856232"/>
            <a:ext cx="566928" cy="566928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11" name="Image 1" descr="/home/claude/devsecops_ppt/icons/brain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164" y="1997964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251460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Pipeline Analytics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99432" y="297180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forecast build failures and flag risky commits before they merge.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11C31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94192" y="1856232"/>
            <a:ext cx="566928" cy="566928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16" name="Image 2" descr="/home/claude/devsecops_ppt/icons/fileContract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5924" y="1997964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251460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94192" y="297180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like Open Policy Agent enforce security &amp; compliance rules automatically.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11C31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4096512"/>
            <a:ext cx="566928" cy="566928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21" name="Image 3" descr="/home/claude/devsecops_ppt/icons/gitAlt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" y="4238244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75488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Adoption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04672" y="521208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becomes the single source of truth for both application and infra state.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43400" y="384048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11C31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99432" y="4096512"/>
            <a:ext cx="566928" cy="566928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26" name="Image 4" descr="/home/claude/devsecops_ppt/icons/userShield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1164" y="4238244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9432" y="475488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Pipelines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99432" y="521208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authenticates and authorises — no implicit trust between steps.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38160" y="384048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11C31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94192" y="4096512"/>
            <a:ext cx="566928" cy="566928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31" name="Image 5" descr="/home/claude/devsecops_ppt/icons/boxes_cy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5924" y="4238244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94192" y="475488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Bill of Materials (SBOM)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394192" y="521208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SLSA-aligned frameworks track every component for supply-chain transparency.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and Intelligent CI/CD Pipelines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2800"/>
            </a:avLst>
          </a:prstGeom>
          <a:solidFill>
            <a:srgbClr val="111C31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6" name="Image 0" descr="/home/claude/devsecops_ppt/icons/exclamation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18836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105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B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Challenges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Alert fatigue from high volumes of scan findings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0449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Integrating dozens of point security tools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35753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Securing the AI/ML models within the pipeline itself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410565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Persistent shortage of DevSecOps-skilled talent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46360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Balancing automation speed with human oversight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17920" y="1554480"/>
            <a:ext cx="5394960" cy="4572000"/>
          </a:xfrm>
          <a:prstGeom prst="roundRect">
            <a:avLst>
              <a:gd name="adj" fmla="val 2800"/>
            </a:avLst>
          </a:prstGeom>
          <a:solidFill>
            <a:srgbClr val="111C31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92240" y="1783080"/>
            <a:ext cx="502920" cy="502920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15" name="Image 1" descr="/home/claude/devsecops_ppt/icons/lightbulb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188366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32320" y="18105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537960" y="2514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Fully autonomous, self-healing pipelines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537960" y="30449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models that predict threats before code is written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537960" y="35753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Industry-wide standardised SBOM regulations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537960" y="410565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Continuous, real-time compliance certification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537960" y="46360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Deeper integration of GenAI copilots in every stage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and Intelligent CI/CD Pipelines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 / Example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111C31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09928"/>
            <a:ext cx="822960" cy="822960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6" name="Image 0" descr="/home/claude/devsecops_ppt/icons/rocke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91566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69164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E-Commerce Platform — DevSecOps Adoption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28800" y="2048256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from a manual, quarterly release cycle to an AI-augmented CI/CD pipeline using Jenkins, SonarQube, Trivy, and an in-house ML anomaly-detection model.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32004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31520" y="39319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deployment frequency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7560" y="29718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20440" y="32004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3520440" y="39319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vulnerabilities reaching production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26480" y="29718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32004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6309360" y="39319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mean time to recovery (MTTR)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915400" y="29718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98280" y="32004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9098280" y="39319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checks fully automated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111C31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23" name="Image 1" descr="/home/claude/devsecops_ppt/icons/flag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" y="5381244"/>
            <a:ext cx="301752" cy="30175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554480" y="523036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embedding AI-driven security scanning directly into the pipeline turned compliance and quality checks from a release-day bottleneck into a continuous, invisible background process.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and Intelligent CI/CD Pipelines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References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111C31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6" name="Image 0" descr="/home/claude/devsecops_ppt/icons/users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8973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691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057400"/>
            <a:ext cx="9646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DevSecOps, enhanced with AI-driven intelligence, transforms CI/CD pipelines from simple automation chains into proactive, self-correcting systems. By embedding security and predictive analytics at every stage, organisations achieve faster releases without compromising safety — making it a foundational practice for modern, resilient software engineering.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337560"/>
            <a:ext cx="11064240" cy="2743200"/>
          </a:xfrm>
          <a:prstGeom prst="roundRect">
            <a:avLst>
              <a:gd name="adj" fmla="val 4667"/>
            </a:avLst>
          </a:prstGeom>
          <a:solidFill>
            <a:srgbClr val="111C31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3566160"/>
            <a:ext cx="548640" cy="548640"/>
          </a:xfrm>
          <a:prstGeom prst="ellipse">
            <a:avLst/>
          </a:prstGeom>
          <a:solidFill>
            <a:srgbClr val="16223B"/>
          </a:solidFill>
          <a:ln w="12700">
            <a:solidFill>
              <a:srgbClr val="223252"/>
            </a:solidFill>
            <a:prstDash val="solid"/>
          </a:ln>
        </p:spPr>
      </p:sp>
      <p:pic>
        <p:nvPicPr>
          <p:cNvPr id="11" name="Image 1" descr="/home/claude/devsecops_ppt/icons/book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" y="36896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3584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914400" y="40233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N. Forsgren, J. Humble, and G. Kim, "Accelerate: The Science of Lean Software and DevOps," IT Revolution Press, 2018.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14400" y="437083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OWASP Foundation, "DevSecOps Guideline," OWASP Project Documentation, 2023.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14400" y="471830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Cloud Native Computing Foundation, "CI/CD Security Best Practices," CNCF Whitepaper, 2023.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14400" y="50657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SLSA.dev, "Supply-chain Levels for Software Artifacts (SLSA) Specification v1.0," 2023.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914400" y="54132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R. Kumar and S. Goyal, "Modeling continuous security: A survey of DevSecOps practices," IEEE Access, vol. 9, 2021.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914400" y="57607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Open Policy Agent, "Policy-as-Code for Cloud Native Environments," CNCF Documentation, 2023.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and Intelligent CI/CD Pipelines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1125</Words>
  <Application>Microsoft Office PowerPoint</Application>
  <PresentationFormat>Widescreen</PresentationFormat>
  <Paragraphs>167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Vivetha B</cp:lastModifiedBy>
  <cp:revision>2</cp:revision>
  <dcterms:created xsi:type="dcterms:W3CDTF">2026-08-21T03:53:07Z</dcterms:created>
  <dcterms:modified xsi:type="dcterms:W3CDTF">2026-08-21T04:19:43Z</dcterms:modified>
</cp:coreProperties>
</file>